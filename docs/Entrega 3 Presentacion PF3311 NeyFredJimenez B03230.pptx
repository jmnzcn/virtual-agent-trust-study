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38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8B97A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B97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4DD-4DCF-935D-BF5F3583A9D6}"/>
              </c:ext>
            </c:extLst>
          </c:dPt>
          <c:dPt>
            <c:idx val="1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4DD-4DCF-935D-BF5F3583A9D6}"/>
              </c:ext>
            </c:extLst>
          </c:dPt>
          <c:dPt>
            <c:idx val="2"/>
            <c:invertIfNegative val="0"/>
            <c:bubble3D val="0"/>
            <c:spPr>
              <a:solidFill>
                <a:srgbClr val="E08A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4DD-4DCF-935D-BF5F3583A9D6}"/>
              </c:ext>
            </c:extLst>
          </c:dPt>
          <c:cat>
            <c:strRef>
              <c:f>Sheet1!$A$2:$A$4</c:f>
              <c:strCache>
                <c:ptCount val="3"/>
                <c:pt idx="0">
                  <c:v>A · sin agente</c:v>
                </c:pt>
                <c:pt idx="1">
                  <c:v>B · chat texto</c:v>
                </c:pt>
                <c:pt idx="2">
                  <c:v>C · avatar+voz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68.900000000000006</c:v>
                </c:pt>
                <c:pt idx="1">
                  <c:v>81.099999999999994</c:v>
                </c:pt>
                <c:pt idx="2">
                  <c:v>55.6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4DD-4DCF-935D-BF5F3583A9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8EE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8B97A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17E-4B8D-9417-966CE15350EA}"/>
              </c:ext>
            </c:extLst>
          </c:dPt>
          <c:dPt>
            <c:idx val="1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17E-4B8D-9417-966CE15350EA}"/>
              </c:ext>
            </c:extLst>
          </c:dPt>
          <c:dPt>
            <c:idx val="2"/>
            <c:invertIfNegative val="0"/>
            <c:bubble3D val="0"/>
            <c:spPr>
              <a:solidFill>
                <a:srgbClr val="E08A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17E-4B8D-9417-966CE15350EA}"/>
              </c:ext>
            </c:extLst>
          </c:dPt>
          <c:cat>
            <c:strRef>
              <c:f>Sheet1!$A$2:$A$4</c:f>
              <c:strCache>
                <c:ptCount val="3"/>
                <c:pt idx="0">
                  <c:v>A · sin agente</c:v>
                </c:pt>
                <c:pt idx="1">
                  <c:v>B · chat texto</c:v>
                </c:pt>
                <c:pt idx="2">
                  <c:v>C · avatar+voz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6.52</c:v>
                </c:pt>
                <c:pt idx="1">
                  <c:v>6.5</c:v>
                </c:pt>
                <c:pt idx="2">
                  <c:v>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17E-4B8D-9417-966CE15350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6350" cap="flat">
              <a:solidFill>
                <a:srgbClr val="E8EE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8B97A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B97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B8C-4312-8992-F523AFDBC09A}"/>
              </c:ext>
            </c:extLst>
          </c:dPt>
          <c:dPt>
            <c:idx val="1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B8C-4312-8992-F523AFDBC09A}"/>
              </c:ext>
            </c:extLst>
          </c:dPt>
          <c:dPt>
            <c:idx val="2"/>
            <c:invertIfNegative val="0"/>
            <c:bubble3D val="0"/>
            <c:spPr>
              <a:solidFill>
                <a:srgbClr val="E08A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B8C-4312-8992-F523AFDBC09A}"/>
              </c:ext>
            </c:extLst>
          </c:dPt>
          <c:cat>
            <c:strRef>
              <c:f>Sheet1!$A$2:$A$4</c:f>
              <c:strCache>
                <c:ptCount val="3"/>
                <c:pt idx="0">
                  <c:v>A · sin agente</c:v>
                </c:pt>
                <c:pt idx="1">
                  <c:v>B · chat texto</c:v>
                </c:pt>
                <c:pt idx="2">
                  <c:v>C · avatar+voz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0.23</c:v>
                </c:pt>
                <c:pt idx="1">
                  <c:v>0.11</c:v>
                </c:pt>
                <c:pt idx="2">
                  <c:v>0.31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B8C-4312-8992-F523AFDBC0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6350" cap="flat">
              <a:solidFill>
                <a:srgbClr val="E8EE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149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Preséntate y enmarca el tema: probamos si que un asistente de IA tenga cara y voz (avatar) cambia el desempeño y la confianza, frente a solo texto o sin asistente. Piloto exploratorio del curso. Total ~10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Motivación: cada vez más productos ponen avatar o voz. ¿Eso mejora cómo decide la gente o solo es estético? Lee la pregunta de la tarjeta.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preguntas en lenguaje simple: aciertos (RQ1), seguridad (RQ2) y si esa seguridad está bien calibrada (RQ3). Antes de ver datos esperábamos que el agente ayudara y el avatar diera más confianza (H1-H3).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las tres condiciones. Recalca diseño intrasujeto y N=15. Punto clave para el resto: B y C usan el MISMO modelo; solo cambia la presentación, así que B vs C aísla el efecto del avatar.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 honesto: como cada bloque tenía preguntas distintas, parte de las diferencias puede deberse a la dificultad, no al avatar. Por eso el contraste limpio es B vs C, y A se interpreta con cautela.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más sólido. El avatar (C) quedó ÚLTIMO, no primero. B vs C limpio: texto superó al avatar por ~26 puntos, significativo (p=0,022), en 11 de 15 personas. H1 no se cumplió.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Esperábamos más seguridad con avatar (H2). Pasó lo contrario: C la más baja. La carga mental fue casi idéntica, así que no es por cansancio. H2 no se cumple.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Calibración: cuán bien la confianza acompaña a los aciertos. C más sobreconfianza (0,31), B la mejor (0,11). Prudencia: la prueba global no fue significativa (p=0,21); H3 solo apoyo descriptivo.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resultados: las tres hipótesis no salieron como esperábamos (H1 y H2 no; H3 solo débil). Mensaje honesto: el avatar no ayudó; lo más firme es B &gt; C con el mismo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mensajes: (1) con el mismo modelo, texto gana al avatar en aciertos; (2) el avatar no dio más confianza; (3) el prototipo funcionó técnicamente; (4) es piloto, cautela por ítems distintos y N pequeño.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con límites con transparencia (ítems distintos, N pequeño, techo de confianza, ejecución local con .exe en vez de VM en nube). Termina con próximos pasos y agradece. Deja ~1 min para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9AA0"/>
                </a:solidFill>
              </a:rPr>
              <a:t>PF-3311 · AGENTES VIRTUALES INTELIGENTES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Efecto de la visibilidad de un agente virtual en el desempeño y la confianza del usuario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6E8"/>
                </a:solidFill>
              </a:rPr>
              <a:t>Tareas de decisión basadas en reglas · Piloto intrasujeto (N = 15)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8B9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  </a:t>
            </a:r>
            <a:r>
              <a:rPr lang="en-US" sz="1200" dirty="0">
                <a:solidFill>
                  <a:srgbClr val="FFFFFF"/>
                </a:solidFill>
              </a:rPr>
              <a:t>sin agente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926080" y="379476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0" y="37947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B  </a:t>
            </a:r>
            <a:r>
              <a:rPr lang="en-US" sz="1200" dirty="0">
                <a:solidFill>
                  <a:srgbClr val="FFFFFF"/>
                </a:solidFill>
              </a:rPr>
              <a:t>chat de texto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212080" y="379476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08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2080" y="37947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  </a:t>
            </a:r>
            <a:r>
              <a:rPr lang="en-US" sz="1200" dirty="0">
                <a:solidFill>
                  <a:srgbClr val="FFFFFF"/>
                </a:solidFill>
              </a:rPr>
              <a:t>avatar + voz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EC2"/>
                </a:solidFill>
              </a:rPr>
              <a:t>Ney Fred Jiménez Campos (B03230)   ·   Prof. Dr. Alexander Barquero   ·   UCR · I-2026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2343B"/>
                </a:solidFill>
              </a:rPr>
              <a:t>Los asistentes con IA muestran cada vez más una </a:t>
            </a:r>
            <a:r>
              <a:rPr lang="en-US" sz="1700" b="1" dirty="0">
                <a:solidFill>
                  <a:srgbClr val="0E7C86"/>
                </a:solidFill>
              </a:rPr>
              <a:t>cara y una voz</a:t>
            </a:r>
            <a:r>
              <a:rPr lang="en-US" sz="1700" dirty="0">
                <a:solidFill>
                  <a:srgbClr val="12343B"/>
                </a:solidFill>
              </a:rPr>
              <a:t>. Desde el diseño de interfaces importa saber si esa presencia </a:t>
            </a:r>
            <a:r>
              <a:rPr lang="en-US" sz="1700" b="1" dirty="0">
                <a:solidFill>
                  <a:srgbClr val="12343B"/>
                </a:solidFill>
              </a:rPr>
              <a:t>ayuda, distrae o cambia la confianza</a:t>
            </a:r>
            <a:r>
              <a:rPr lang="en-US" sz="1700" dirty="0">
                <a:solidFill>
                  <a:srgbClr val="12343B"/>
                </a:solidFill>
              </a:rPr>
              <a:t> del usuario.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B6B73"/>
                </a:solidFill>
              </a:rPr>
              <a:t>Es un piloto exploratorio: no busca la última palabra, sino una primera señal con un prototipo real.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0" y="1188720"/>
            <a:ext cx="3657600" cy="3108960"/>
          </a:xfrm>
          <a:prstGeom prst="roundRect">
            <a:avLst>
              <a:gd name="adj" fmla="val 2941"/>
            </a:avLst>
          </a:prstGeom>
          <a:solidFill>
            <a:srgbClr val="0F2E3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212080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C9A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349240" y="192024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¿Cambia algo si el asistente se ve y se escucha, frente a solo leer texto o no tener asistente?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0392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investigación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AF3F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</a:rPr>
              <a:t>Precisión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3"/>
                </a:solidFill>
              </a:rPr>
              <a:t>¿Se acierta más con el agente o con el avatar?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64408" y="11887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AF3F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93008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9300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</a:rPr>
              <a:t>Confianza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93008" y="2286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3"/>
                </a:solidFill>
              </a:rPr>
              <a:t>¿La gente se siente más segura con el avatar?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71616" y="118872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AF3F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0216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00216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</a:rPr>
              <a:t>Calibración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0216" y="2286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3"/>
                </a:solidFill>
              </a:rPr>
              <a:t>¿La confianza coincide con los aciertos reales?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2343B"/>
                </a:solidFill>
              </a:rPr>
              <a:t>Hipótesis (lo que esperábamos):  </a:t>
            </a:r>
            <a:r>
              <a:rPr lang="en-US" sz="1300" dirty="0">
                <a:solidFill>
                  <a:srgbClr val="5B6B73"/>
                </a:solidFill>
              </a:rPr>
              <a:t>H1 más aciertos con agente (C ≈ B &gt; A)   ·   H2 más confianza con avatar (C &gt; B &gt; A)   ·   H3 más sobreconfianza en 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estudio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7E9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8B97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   </a:t>
            </a:r>
            <a:r>
              <a:rPr lang="en-US" sz="1300" b="1" dirty="0">
                <a:solidFill>
                  <a:srgbClr val="FFFFFF"/>
                </a:solidFill>
              </a:rPr>
              <a:t>Sin asistencia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2343B"/>
                </a:solidFill>
              </a:rPr>
              <a:t>Solo el escenario y las opciones. Sin chat.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64408" y="114300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7E9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64408" y="11430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55848" y="1143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   </a:t>
            </a:r>
            <a:r>
              <a:rPr lang="en-US" sz="1300" b="1" dirty="0">
                <a:solidFill>
                  <a:srgbClr val="FFFFFF"/>
                </a:solidFill>
              </a:rPr>
              <a:t>Agente de texto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47288" y="17830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2343B"/>
                </a:solidFill>
              </a:rPr>
              <a:t>Chat con IA que orienta con pistas, sin dar la respuesta.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71616" y="114300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7E9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71616" y="11430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E08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63056" y="1143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   </a:t>
            </a:r>
            <a:r>
              <a:rPr lang="en-US" sz="1300" b="1" dirty="0">
                <a:solidFill>
                  <a:srgbClr val="FFFFFF"/>
                </a:solidFill>
              </a:rPr>
              <a:t>Agente virtual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54496" y="17830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2343B"/>
                </a:solidFill>
              </a:rPr>
              <a:t>El mismo chat + avatar 3D que habla (voz Azure).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4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2343B"/>
                </a:solidFill>
              </a:rPr>
              <a:t>Intrasujeto: </a:t>
            </a:r>
            <a:r>
              <a:rPr lang="en-US" sz="1250" dirty="0">
                <a:solidFill>
                  <a:srgbClr val="12343B"/>
                </a:solidFill>
              </a:rPr>
              <a:t>cada persona pasó por A, B y C (6 preguntas por bloque, orden contrabalanceado).  </a:t>
            </a:r>
            <a:r>
              <a:rPr lang="en-US" sz="1250" b="1" dirty="0">
                <a:solidFill>
                  <a:srgbClr val="12343B"/>
                </a:solidFill>
              </a:rPr>
              <a:t>N = 15.  </a:t>
            </a:r>
            <a:r>
              <a:rPr lang="en-US" sz="1250" dirty="0">
                <a:solidFill>
                  <a:srgbClr val="12343B"/>
                </a:solidFill>
              </a:rPr>
              <a:t>Tras cada respuesta, confianza 1-7; tras cada bloque, RAW-TLX y meCUE. Agente: Gemini + avatar Azure.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8A3C"/>
                </a:solidFill>
              </a:rPr>
              <a:t>Clave: </a:t>
            </a:r>
            <a:r>
              <a:rPr lang="en-US" sz="1400" b="1" dirty="0">
                <a:solidFill>
                  <a:srgbClr val="12343B"/>
                </a:solidFill>
              </a:rPr>
              <a:t>B vs C aísla la modalidad — mismo modelo, lo único que cambia es texto vs avatar con voz.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salvedad antes de los resultados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CF1E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08A3C"/>
                </a:solidFill>
              </a:rPr>
              <a:t>Cada condición usó 6 preguntas distintas</a:t>
            </a:r>
            <a:r>
              <a:rPr lang="en-US" sz="1600" dirty="0">
                <a:solidFill>
                  <a:srgbClr val="12343B"/>
                </a:solidFill>
              </a:rPr>
              <a:t> (18 en total). No estaban equiparadas en dificultad: hasta </a:t>
            </a:r>
            <a:r>
              <a:rPr lang="en-US" sz="1600" b="1" dirty="0">
                <a:solidFill>
                  <a:srgbClr val="12343B"/>
                </a:solidFill>
              </a:rPr>
              <a:t>26 puntos porcentuales</a:t>
            </a:r>
            <a:r>
              <a:rPr lang="en-US" sz="1600" dirty="0">
                <a:solidFill>
                  <a:srgbClr val="12343B"/>
                </a:solidFill>
              </a:rPr>
              <a:t> de diferencia entre el bloque más fácil y el más difícil.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</a:rPr>
              <a:t>Consecuencia:  </a:t>
            </a:r>
            <a:r>
              <a:rPr lang="en-US" sz="1500" dirty="0">
                <a:solidFill>
                  <a:srgbClr val="12343B"/>
                </a:solidFill>
              </a:rPr>
              <a:t>comparar A, B y C en bloque mezcla el </a:t>
            </a:r>
            <a:r>
              <a:rPr lang="en-US" sz="1500" b="1" dirty="0">
                <a:solidFill>
                  <a:srgbClr val="12343B"/>
                </a:solidFill>
              </a:rPr>
              <a:t>tipo de ayuda</a:t>
            </a:r>
            <a:r>
              <a:rPr lang="en-US" sz="1500" dirty="0">
                <a:solidFill>
                  <a:srgbClr val="12343B"/>
                </a:solidFill>
              </a:rPr>
              <a:t> con la </a:t>
            </a:r>
            <a:r>
              <a:rPr lang="en-US" sz="1500" b="1" dirty="0">
                <a:solidFill>
                  <a:srgbClr val="12343B"/>
                </a:solidFill>
              </a:rPr>
              <a:t>dificultad de las preguntas</a:t>
            </a:r>
            <a:r>
              <a:rPr lang="en-US" sz="1500" dirty="0">
                <a:solidFill>
                  <a:srgbClr val="12343B"/>
                </a:solidFill>
              </a:rPr>
              <a:t>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2343B"/>
                </a:solidFill>
              </a:rPr>
              <a:t>Por eso el contraste más fiable es </a:t>
            </a:r>
            <a:r>
              <a:rPr lang="en-US" sz="1500" b="1" dirty="0">
                <a:solidFill>
                  <a:srgbClr val="0E7C86"/>
                </a:solidFill>
              </a:rPr>
              <a:t>B vs C</a:t>
            </a:r>
            <a:r>
              <a:rPr lang="en-US" sz="1500" dirty="0">
                <a:solidFill>
                  <a:srgbClr val="12343B"/>
                </a:solidFill>
              </a:rPr>
              <a:t> (mismo modelo); las comparaciones con A se leen como orientativas.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· Precisión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3"/>
                </a:solidFill>
              </a:rPr>
              <a:t>Aciertos medios por condición (escala 0-100 %)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37160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463040"/>
            <a:ext cx="3108960" cy="3017520"/>
          </a:xfrm>
          <a:prstGeom prst="roundRect">
            <a:avLst>
              <a:gd name="adj" fmla="val 2424"/>
            </a:avLst>
          </a:prstGeom>
          <a:solidFill>
            <a:srgbClr val="EAF3F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97880" y="16459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le ganó a C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897880" y="2514600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343B"/>
                </a:solidFill>
              </a:rPr>
              <a:t>Con el mismo modelo, el chat de texto acertó más que el avatar.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2343B"/>
                </a:solidFill>
              </a:rPr>
              <a:t> 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2343B"/>
                </a:solidFill>
              </a:rPr>
              <a:t>A 68,9 %  ·  B 81,1 %  ·  C 55,6 %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2343B"/>
                </a:solidFill>
              </a:rPr>
              <a:t> 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E7C86"/>
                </a:solidFill>
              </a:rPr>
              <a:t>B − C ≈ 26 pp  (p = 0,022; 11 de 15 personas).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50392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· Confianza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3"/>
                </a:solidFill>
              </a:rPr>
              <a:t>Confianza media tras cada respuesta (escala 1-7)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37160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463040"/>
            <a:ext cx="3108960" cy="3017520"/>
          </a:xfrm>
          <a:prstGeom prst="roundRect">
            <a:avLst>
              <a:gd name="adj" fmla="val 2424"/>
            </a:avLst>
          </a:prstGeom>
          <a:solidFill>
            <a:srgbClr val="EAF3F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97880" y="16459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avatar no dio más seguridad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897880" y="2514600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343B"/>
                </a:solidFill>
              </a:rPr>
              <a:t>La confianza fue alta en todas, y la más baja fue con avatar.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2343B"/>
                </a:solidFill>
              </a:rPr>
              <a:t> 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2343B"/>
                </a:solidFill>
              </a:rPr>
              <a:t>A 6,52  ·  B 6,50  ·  C 6,20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2343B"/>
                </a:solidFill>
              </a:rPr>
              <a:t> 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08A3C"/>
                </a:solidFill>
              </a:rPr>
              <a:t>RAW-TLX (carga) casi igual en las tres (~4,3). H2 no se cumple.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50392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· Calibración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3"/>
                </a:solidFill>
              </a:rPr>
              <a:t>Brecha confianza menos aciertos (positivo = sobreconfianza)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37160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463040"/>
            <a:ext cx="3108960" cy="3017520"/>
          </a:xfrm>
          <a:prstGeom prst="roundRect">
            <a:avLst>
              <a:gd name="adj" fmla="val 2424"/>
            </a:avLst>
          </a:prstGeom>
          <a:solidFill>
            <a:srgbClr val="EAF3F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97880" y="16459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Señal débil de sobreconfianza en C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897880" y="2514600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2343B"/>
                </a:solidFill>
              </a:rPr>
              <a:t>C mostró la mayor brecha; B fue la mejor calibrada.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2343B"/>
                </a:solidFill>
              </a:rPr>
              <a:t> 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2343B"/>
                </a:solidFill>
              </a:rPr>
              <a:t>A 0,23  ·  B 0,11  ·  C 0,31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2343B"/>
                </a:solidFill>
              </a:rPr>
              <a:t> 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08A3C"/>
                </a:solidFill>
              </a:rPr>
              <a:t>Pero solo es descriptivo: Friedman p = 0,21 (no significativo).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50392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Hipótesis: esperado vs observado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8803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Hipótesis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Qué esperábamos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Qué pasó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Estado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43B"/>
                          </a:solidFill>
                        </a:rPr>
                        <a:t>H1 · Precisión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43B"/>
                          </a:solidFill>
                        </a:rPr>
                        <a:t>C ≈ B &gt; 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43B"/>
                          </a:solidFill>
                        </a:rPr>
                        <a:t>B (81,1 %) &gt; A (68,9 %) &gt; C (55,6 %)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B23A2E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43B"/>
                          </a:solidFill>
                        </a:rPr>
                        <a:t>H2 · Confianza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43B"/>
                          </a:solidFill>
                        </a:rPr>
                        <a:t>C &gt; B &gt; A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43B"/>
                          </a:solidFill>
                        </a:rPr>
                        <a:t>A (6,52) ≈ B (6,50) &gt; C (6,20)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B23A2E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43B"/>
                          </a:solidFill>
                        </a:rPr>
                        <a:t>H3 · Calibración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43B"/>
                          </a:solidFill>
                        </a:rPr>
                        <a:t>Mayor brecha en C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43B"/>
                          </a:solidFill>
                        </a:rPr>
                        <a:t>C (0,31) &gt; A (0,23) &gt; B (0,11), pero p = 0,21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E08A3C"/>
                          </a:solidFill>
                        </a:rPr>
                        <a:t>Débil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B6B73"/>
                </a:solidFill>
              </a:rPr>
              <a:t>Ninguna hipótesis se confirmó como la planteamos; lo más estable es B &gt; C en precisión con el mismo modelo.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50392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EAF3F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Texto &gt; avatar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180136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2343B"/>
                </a:solidFill>
              </a:rPr>
              <a:t>Con el mismo modelo, el chat de texto (B) acertó más que el avatar (C). El avatar no mejoró el desempeño.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663440" y="123444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EAF3F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9204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más confianza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892040" y="180136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2343B"/>
                </a:solidFill>
              </a:rPr>
              <a:t>El avatar no aumentó la sensación de seguridad; si acaso, la bajó un poco.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EAF3F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3063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Prototipo viable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349300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2343B"/>
                </a:solidFill>
              </a:rPr>
              <a:t>100 % de datos válidos y 0 filtraciones del agente: la herramienta sirve para investigar.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2926080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EAF3F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3063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B6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Leer con cautela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92040" y="349300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2343B"/>
                </a:solidFill>
              </a:rPr>
              <a:t>Ítems distintos por bloque y N = 15: evidencia exploratoria, no leyes generales.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0392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y próximos pasos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9AA0"/>
                </a:solidFill>
              </a:rPr>
              <a:t>Limitaciones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F0F1"/>
                </a:solidFill>
              </a:rPr>
              <a:t>Ítems distintos por bloque (no equiparados).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F0F1"/>
                </a:solidFill>
              </a:rPr>
              <a:t>Muestra pequeña y de conveniencia (N = 15).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F0F1"/>
                </a:solidFill>
              </a:rPr>
              <a:t>Confianza con techo de escala (~6,5/7).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F0F1"/>
                </a:solidFill>
              </a:rPr>
              <a:t>Se corrió con un .exe local en cada laptop, no en la VM en la nube prevista: entorno no uniforme.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4632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9AA0"/>
                </a:solidFill>
              </a:rPr>
              <a:t>Próximos pasos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F0F1"/>
                </a:solidFill>
              </a:rPr>
              <a:t>Equilibrar la dificultad de los ítems entre condiciones.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F0F1"/>
                </a:solidFill>
              </a:rPr>
              <a:t>Aumentar N y reportar tamaños de efecto.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F0F1"/>
                </a:solidFill>
              </a:rPr>
              <a:t>Probar chat sin voz en C para aislar voz vs avatar.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F0F1"/>
                </a:solidFill>
              </a:rPr>
              <a:t>Sistematizar la entrevista post-sesión.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389120"/>
            <a:ext cx="7863840" cy="0"/>
          </a:xfrm>
          <a:prstGeom prst="line">
            <a:avLst/>
          </a:prstGeom>
          <a:noFill/>
          <a:ln w="12700">
            <a:solidFill>
              <a:srgbClr val="2C55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8DC"/>
                </a:solidFill>
              </a:rPr>
              <a:t>Gracias.   Ney Fred Jiménez Campos (B03230)   ·   PF-3311 — Agentes Virtuales Inteligentes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1372</Words>
  <Application>Microsoft Office PowerPoint</Application>
  <PresentationFormat>On-screen Show (16:9)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Efecto de la visibilidad de un agente virtual</dc:title>
  <dc:subject>PptxGenJS Presentation</dc:subject>
  <dc:creator>Ney Fred Jiménez Campos (B03230)</dc:creator>
  <cp:lastModifiedBy>Ney Fred Jimenez Campos</cp:lastModifiedBy>
  <cp:revision>2</cp:revision>
  <dcterms:created xsi:type="dcterms:W3CDTF">2026-06-23T08:18:00Z</dcterms:created>
  <dcterms:modified xsi:type="dcterms:W3CDTF">2026-06-23T08:32:56Z</dcterms:modified>
</cp:coreProperties>
</file>